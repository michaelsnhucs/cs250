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Figtree"/>
      <p:regular r:id="rId13"/>
      <p:bold r:id="rId14"/>
      <p:italic r:id="rId15"/>
      <p:boldItalic r:id="rId16"/>
    </p:embeddedFont>
    <p:embeddedFont>
      <p:font typeface="Jost Light"/>
      <p:regular r:id="rId17"/>
      <p:bold r:id="rId18"/>
      <p:italic r:id="rId19"/>
      <p:boldItalic r:id="rId20"/>
    </p:embeddedFont>
    <p:embeddedFont>
      <p:font typeface="Figtree Light"/>
      <p:regular r:id="rId21"/>
      <p:bold r:id="rId22"/>
      <p:italic r:id="rId23"/>
      <p:boldItalic r:id="rId24"/>
    </p:embeddedFont>
    <p:embeddedFont>
      <p:font typeface="Jo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tLight-boldItalic.fntdata"/><Relationship Id="rId22" Type="http://schemas.openxmlformats.org/officeDocument/2006/relationships/font" Target="fonts/FigtreeLight-bold.fntdata"/><Relationship Id="rId21" Type="http://schemas.openxmlformats.org/officeDocument/2006/relationships/font" Target="fonts/FigtreeLight-regular.fntdata"/><Relationship Id="rId24" Type="http://schemas.openxmlformats.org/officeDocument/2006/relationships/font" Target="fonts/FigtreeLight-boldItalic.fntdata"/><Relationship Id="rId23" Type="http://schemas.openxmlformats.org/officeDocument/2006/relationships/font" Target="fonts/Figtree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ost-bold.fntdata"/><Relationship Id="rId25" Type="http://schemas.openxmlformats.org/officeDocument/2006/relationships/font" Target="fonts/Jost-regular.fntdata"/><Relationship Id="rId28" Type="http://schemas.openxmlformats.org/officeDocument/2006/relationships/font" Target="fonts/Jost-boldItalic.fntdata"/><Relationship Id="rId27" Type="http://schemas.openxmlformats.org/officeDocument/2006/relationships/font" Target="fonts/Jo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Figtree-regular.fntdata"/><Relationship Id="rId12" Type="http://schemas.openxmlformats.org/officeDocument/2006/relationships/slide" Target="slides/slide7.xml"/><Relationship Id="rId15" Type="http://schemas.openxmlformats.org/officeDocument/2006/relationships/font" Target="fonts/Figtree-italic.fntdata"/><Relationship Id="rId14" Type="http://schemas.openxmlformats.org/officeDocument/2006/relationships/font" Target="fonts/Figtree-bold.fntdata"/><Relationship Id="rId17" Type="http://schemas.openxmlformats.org/officeDocument/2006/relationships/font" Target="fonts/JostLight-regular.fntdata"/><Relationship Id="rId16" Type="http://schemas.openxmlformats.org/officeDocument/2006/relationships/font" Target="fonts/Figtree-boldItalic.fntdata"/><Relationship Id="rId19" Type="http://schemas.openxmlformats.org/officeDocument/2006/relationships/font" Target="fonts/JostLight-italic.fntdata"/><Relationship Id="rId18" Type="http://schemas.openxmlformats.org/officeDocument/2006/relationships/font" Target="fonts/Jost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0140a6604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e0140a6604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0140a660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e0140a660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0140a660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e0140a660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0140a660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e0140a660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0140a660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0140a660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0140a6604_0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e0140a6604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0140a6604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e0140a6604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Scrum-Agile</a:t>
            </a:r>
            <a:endParaRPr sz="7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VS</a:t>
            </a:r>
            <a:endParaRPr sz="7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Waterfall Development</a:t>
            </a:r>
            <a:endParaRPr sz="6800"/>
          </a:p>
        </p:txBody>
      </p:sp>
      <p:sp>
        <p:nvSpPr>
          <p:cNvPr id="439" name="Google Shape;439;p48"/>
          <p:cNvSpPr txBox="1"/>
          <p:nvPr>
            <p:ph idx="1" type="subTitle"/>
          </p:nvPr>
        </p:nvSpPr>
        <p:spPr>
          <a:xfrm>
            <a:off x="228225" y="129820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 Winchester CS250 Final</a:t>
            </a:r>
            <a:endParaRPr/>
          </a:p>
        </p:txBody>
      </p:sp>
      <p:sp>
        <p:nvSpPr>
          <p:cNvPr id="440" name="Google Shape;440;p48"/>
          <p:cNvSpPr txBox="1"/>
          <p:nvPr>
            <p:ph idx="2" type="subTitle"/>
          </p:nvPr>
        </p:nvSpPr>
        <p:spPr>
          <a:xfrm>
            <a:off x="228225" y="107945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4/19/2026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"/>
          <p:cNvSpPr txBox="1"/>
          <p:nvPr/>
        </p:nvSpPr>
        <p:spPr>
          <a:xfrm>
            <a:off x="228600" y="457200"/>
            <a:ext cx="86868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Agile Roles</a:t>
            </a:r>
            <a:endParaRPr b="1" sz="4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46" name="Google Shape;446;p49"/>
          <p:cNvSpPr txBox="1"/>
          <p:nvPr/>
        </p:nvSpPr>
        <p:spPr>
          <a:xfrm>
            <a:off x="228350" y="1801500"/>
            <a:ext cx="8686800" cy="3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Scrum Master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Facilitates Scrum process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Removes </a:t>
            </a: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obstacles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Product owner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Manages </a:t>
            </a: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product</a:t>
            </a: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backlog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Prioritizes features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Development team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Builds and tests the product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Delivers incements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0"/>
          <p:cNvSpPr txBox="1"/>
          <p:nvPr/>
        </p:nvSpPr>
        <p:spPr>
          <a:xfrm>
            <a:off x="228600" y="457200"/>
            <a:ext cx="86871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Agile Phases</a:t>
            </a:r>
            <a:endParaRPr b="1" sz="4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2" name="Google Shape;452;p50"/>
          <p:cNvSpPr txBox="1"/>
          <p:nvPr/>
        </p:nvSpPr>
        <p:spPr>
          <a:xfrm>
            <a:off x="228675" y="1515500"/>
            <a:ext cx="8687100" cy="3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Planning (Sprint Planning)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Design &amp; Development (Sprint Execution)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Testing (Continuous Testing)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Review (Sprint Review)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Improvement (Retrospective)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Why are these the phases?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Continuous improvement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Faster delivery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"/>
              <a:buChar char="●"/>
            </a:pPr>
            <a:r>
              <a:rPr lang="en" sz="2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Adaptability</a:t>
            </a:r>
            <a:endParaRPr sz="2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"/>
          <p:cNvSpPr txBox="1"/>
          <p:nvPr/>
        </p:nvSpPr>
        <p:spPr>
          <a:xfrm>
            <a:off x="228600" y="228600"/>
            <a:ext cx="86868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Waterfall Phases</a:t>
            </a:r>
            <a:endParaRPr b="1" sz="4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8" name="Google Shape;458;p51"/>
          <p:cNvSpPr txBox="1"/>
          <p:nvPr/>
        </p:nvSpPr>
        <p:spPr>
          <a:xfrm>
            <a:off x="228600" y="1393650"/>
            <a:ext cx="8686800" cy="3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Linear, step-by-step process: 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AutoNum type="arabicPeriod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Requirements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AutoNum type="arabicPeriod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Design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AutoNum type="arabicPeriod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Implementation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AutoNum type="arabicPeriod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Testing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AutoNum type="arabicPeriod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Deployment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2"/>
          <p:cNvSpPr txBox="1"/>
          <p:nvPr/>
        </p:nvSpPr>
        <p:spPr>
          <a:xfrm>
            <a:off x="228600" y="228600"/>
            <a:ext cx="86868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Waterfall Vs Agile</a:t>
            </a:r>
            <a:endParaRPr b="1" sz="4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4" name="Google Shape;464;p52"/>
          <p:cNvSpPr txBox="1"/>
          <p:nvPr/>
        </p:nvSpPr>
        <p:spPr>
          <a:xfrm>
            <a:off x="228600" y="1299000"/>
            <a:ext cx="8686800" cy="3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Waterfall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Char char="●"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Predictable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Char char="●"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Structured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Char char="●"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Hard to change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Char char="●"/>
            </a:pPr>
            <a:r>
              <a:t/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Agile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Char char="●"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Flexible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Char char="●"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Iterative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Char char="●"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Continuous feedback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Waterfall requires restarting the process.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Agile adapts next sprint.</a:t>
            </a:r>
            <a:endParaRPr sz="2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3"/>
          <p:cNvSpPr txBox="1"/>
          <p:nvPr/>
        </p:nvSpPr>
        <p:spPr>
          <a:xfrm>
            <a:off x="228600" y="228600"/>
            <a:ext cx="86871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Choosing the Right Approach</a:t>
            </a:r>
            <a:endParaRPr b="1" sz="4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70" name="Google Shape;470;p53"/>
          <p:cNvSpPr txBox="1"/>
          <p:nvPr/>
        </p:nvSpPr>
        <p:spPr>
          <a:xfrm>
            <a:off x="228175" y="1311750"/>
            <a:ext cx="8687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Factors to consider: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Project complexity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Requirement stability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Stakeholder involvement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Time constraints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Conclusion: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Agile is better for dynamic projects.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Waterfall suits stable, predictable projects.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4"/>
          <p:cNvSpPr txBox="1"/>
          <p:nvPr/>
        </p:nvSpPr>
        <p:spPr>
          <a:xfrm>
            <a:off x="25475" y="25475"/>
            <a:ext cx="45936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References</a:t>
            </a:r>
            <a:endParaRPr b="1" sz="4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76" name="Google Shape;476;p54"/>
          <p:cNvSpPr txBox="1"/>
          <p:nvPr/>
        </p:nvSpPr>
        <p:spPr>
          <a:xfrm>
            <a:off x="452100" y="795150"/>
            <a:ext cx="8239800" cy="3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Schwaber, K., &amp; Sutherland, J. (2020). The Scrum Guide.</a:t>
            </a:r>
            <a:endParaRPr sz="15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Pressman, R. S., &amp; Maxim, B. R. (2020). Software Engineering: A Practitioner’s Approach.</a:t>
            </a:r>
            <a:endParaRPr sz="15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Rigby, D. K., Sutherland, J., &amp; Takeuchi, H. (2020). Embracing Agile. Harvard Business Review.</a:t>
            </a:r>
            <a:endParaRPr sz="15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Project Management Institute. (2021). Agile Practice Guide.</a:t>
            </a:r>
            <a:endParaRPr sz="15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